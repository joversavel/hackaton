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3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49440" y="0"/>
            <a:ext cx="6400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Unified AI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C5D5E9"/>
                </a:solidFill>
              </a:rPr>
              <a:t>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Microsoft Teams × Jira × Confluence × Dynamics 365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</a:rPr>
              <a:t>AI Hackathon 2026  ·  Pollet Group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645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🤖  Claude AI (Anthropic)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4688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📋  Jira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291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📚  Confluence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114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👥  Azure 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9377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💼  Dynamics 365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Sterima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E3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Het Probleem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D5E9"/>
                </a:solidFill>
              </a:rPr>
              <a:t>Waarom hebben we een AI-assistent nodig?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73152" cy="100584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F35"/>
                </a:solidFill>
              </a:rPr>
              <a:t>⏱️  15–30 min per 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756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</a:rPr>
              <a:t>Support zoekt handmatig in Confluence naar bestaande oplossingen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788920"/>
            <a:ext cx="73152" cy="100584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880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F35"/>
                </a:solidFill>
              </a:rPr>
              <a:t>📋  Incomplete tickets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644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</a:rPr>
              <a:t>Developers missen context en richting bij Jira tickets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977639"/>
            <a:ext cx="73152" cy="100584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06907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F1F35"/>
                </a:solidFill>
              </a:rPr>
              <a:t>🗂️  </a:t>
            </a:r>
            <a:r>
              <a:rPr sz="1600" b="1" i="0" dirty="0" err="1">
                <a:solidFill>
                  <a:srgbClr val="0F1F35"/>
                </a:solidFill>
              </a:rPr>
              <a:t>Versnipperde</a:t>
            </a:r>
            <a:r>
              <a:rPr sz="1600" b="1" i="0" dirty="0">
                <a:solidFill>
                  <a:srgbClr val="0F1F35"/>
                </a:solidFill>
              </a:rPr>
              <a:t> </a:t>
            </a:r>
            <a:r>
              <a:rPr sz="1600" b="1" i="0" dirty="0" err="1">
                <a:solidFill>
                  <a:srgbClr val="0F1F35"/>
                </a:solidFill>
              </a:rPr>
              <a:t>klantinfo</a:t>
            </a:r>
            <a:endParaRPr sz="1600" b="1" i="0" dirty="0">
              <a:solidFill>
                <a:srgbClr val="0F1F35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4453127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</a:rPr>
              <a:t>Dynamics, e-mail en tickets geven nooit een volledig beeld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16636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166360"/>
            <a:ext cx="73152" cy="100584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25780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F1F35"/>
                </a:solidFill>
              </a:rPr>
              <a:t>🧠  </a:t>
            </a:r>
            <a:r>
              <a:rPr sz="1600" b="1" i="0" dirty="0" err="1">
                <a:solidFill>
                  <a:srgbClr val="0F1F35"/>
                </a:solidFill>
              </a:rPr>
              <a:t>Kennisverlies</a:t>
            </a:r>
            <a:endParaRPr sz="1600" b="1" i="0" dirty="0">
              <a:solidFill>
                <a:srgbClr val="0F1F35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" y="56418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</a:rPr>
              <a:t>Opgeloste problemen worden niet gedocumenteerd voor hergebruik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E3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 Oplossing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D5E9"/>
                </a:solidFill>
              </a:rPr>
              <a:t>Eén AI-interface voor alle systemen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247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334155"/>
                </a:solidFill>
              </a:rPr>
              <a:t>De Unified AI Workspace Assistant </a:t>
            </a:r>
            <a:r>
              <a:rPr sz="1500" b="0" i="0" dirty="0" err="1">
                <a:solidFill>
                  <a:srgbClr val="334155"/>
                </a:solidFill>
              </a:rPr>
              <a:t>verbindt</a:t>
            </a:r>
            <a:r>
              <a:rPr sz="1500" b="0" i="0" dirty="0">
                <a:solidFill>
                  <a:srgbClr val="334155"/>
                </a:solidFill>
              </a:rPr>
              <a:t> Jira, Confluence, Dynamics 365 in </a:t>
            </a:r>
            <a:r>
              <a:rPr sz="1500" b="0" i="0" dirty="0" err="1">
                <a:solidFill>
                  <a:srgbClr val="334155"/>
                </a:solidFill>
              </a:rPr>
              <a:t>één</a:t>
            </a:r>
            <a:r>
              <a:rPr sz="1500" b="0" i="0" dirty="0">
                <a:solidFill>
                  <a:srgbClr val="334155"/>
                </a:solidFill>
              </a:rPr>
              <a:t> Teams-interface — </a:t>
            </a:r>
            <a:r>
              <a:rPr sz="1500" b="0" i="0" dirty="0" err="1">
                <a:solidFill>
                  <a:srgbClr val="334155"/>
                </a:solidFill>
              </a:rPr>
              <a:t>aangedreven</a:t>
            </a:r>
            <a:r>
              <a:rPr sz="1500" b="0" i="0" dirty="0">
                <a:solidFill>
                  <a:srgbClr val="334155"/>
                </a:solidFill>
              </a:rPr>
              <a:t> door Claude (Anthropic).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77440"/>
            <a:ext cx="28346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2377440"/>
            <a:ext cx="2834640" cy="45720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44144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🎯  Smart Assign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71800"/>
            <a:ext cx="2606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dirty="0">
                <a:solidFill>
                  <a:srgbClr val="334155"/>
                </a:solidFill>
              </a:rPr>
              <a:t>→  </a:t>
            </a:r>
            <a:r>
              <a:rPr sz="1300" dirty="0" err="1">
                <a:solidFill>
                  <a:srgbClr val="334155"/>
                </a:solidFill>
              </a:rPr>
              <a:t>Analyseert</a:t>
            </a:r>
            <a:r>
              <a:rPr sz="1300" dirty="0">
                <a:solidFill>
                  <a:srgbClr val="334155"/>
                </a:solidFill>
              </a:rPr>
              <a:t> </a:t>
            </a:r>
            <a:r>
              <a:rPr sz="1300" dirty="0" err="1">
                <a:solidFill>
                  <a:srgbClr val="334155"/>
                </a:solidFill>
              </a:rPr>
              <a:t>historiek</a:t>
            </a:r>
            <a:endParaRPr sz="1300" dirty="0">
              <a:solidFill>
                <a:srgbClr val="334155"/>
              </a:solidFill>
            </a:endParaRP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334155"/>
                </a:solidFill>
              </a:rPr>
              <a:t>→  </a:t>
            </a:r>
            <a:r>
              <a:rPr sz="1300" dirty="0" err="1">
                <a:solidFill>
                  <a:srgbClr val="334155"/>
                </a:solidFill>
              </a:rPr>
              <a:t>Toewijzen</a:t>
            </a:r>
            <a:r>
              <a:rPr sz="1300" dirty="0">
                <a:solidFill>
                  <a:srgbClr val="334155"/>
                </a:solidFill>
              </a:rPr>
              <a:t> met confidence %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334155"/>
                </a:solidFill>
              </a:rPr>
              <a:t>→  </a:t>
            </a:r>
            <a:r>
              <a:rPr sz="1300" dirty="0" err="1">
                <a:solidFill>
                  <a:srgbClr val="334155"/>
                </a:solidFill>
              </a:rPr>
              <a:t>Directe</a:t>
            </a:r>
            <a:r>
              <a:rPr sz="1300" dirty="0">
                <a:solidFill>
                  <a:srgbClr val="334155"/>
                </a:solidFill>
              </a:rPr>
              <a:t> Teams-</a:t>
            </a:r>
            <a:r>
              <a:rPr sz="1300" dirty="0" err="1">
                <a:solidFill>
                  <a:srgbClr val="334155"/>
                </a:solidFill>
              </a:rPr>
              <a:t>notificatie</a:t>
            </a:r>
            <a:endParaRPr sz="1300" dirty="0">
              <a:solidFill>
                <a:srgbClr val="334155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46120" y="2377440"/>
            <a:ext cx="28346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2377440"/>
            <a:ext cx="2834640" cy="45720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244144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🔍  Oplossingszoeker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971800"/>
            <a:ext cx="2606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</a:rPr>
              <a:t>→  Vergelijkt met historiek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</a:rPr>
              <a:t>→  Concrete aanpak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</a:rPr>
              <a:t>→  Succeswaarschijnlijkheid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377440"/>
            <a:ext cx="28346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2377440"/>
            <a:ext cx="2834640" cy="45720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244144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⚡  Auto-Resolve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71800"/>
            <a:ext cx="2606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</a:rPr>
              <a:t>→  Analyseer + toewijzen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</a:rPr>
              <a:t>→  Oplossing + comment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</a:rPr>
              <a:t>→  Alles in één actie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2377440"/>
            <a:ext cx="28346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89720" y="2377440"/>
            <a:ext cx="2834640" cy="45720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81160" y="244144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📝  Kenniscapture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971800"/>
            <a:ext cx="2606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dirty="0">
                <a:solidFill>
                  <a:srgbClr val="334155"/>
                </a:solidFill>
              </a:rPr>
              <a:t>→  </a:t>
            </a:r>
            <a:r>
              <a:rPr sz="1300" dirty="0" err="1">
                <a:solidFill>
                  <a:srgbClr val="334155"/>
                </a:solidFill>
              </a:rPr>
              <a:t>Oplossing</a:t>
            </a:r>
            <a:r>
              <a:rPr sz="1300" dirty="0">
                <a:solidFill>
                  <a:srgbClr val="334155"/>
                </a:solidFill>
              </a:rPr>
              <a:t> → </a:t>
            </a:r>
            <a:r>
              <a:rPr sz="1300" dirty="0" err="1">
                <a:solidFill>
                  <a:srgbClr val="334155"/>
                </a:solidFill>
              </a:rPr>
              <a:t>artikel</a:t>
            </a:r>
            <a:endParaRPr sz="1300" dirty="0">
              <a:solidFill>
                <a:srgbClr val="334155"/>
              </a:solidFill>
            </a:endParaRP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334155"/>
                </a:solidFill>
              </a:rPr>
              <a:t>→  Auto-publish Confluence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334155"/>
                </a:solidFill>
              </a:rPr>
              <a:t>→  Kennis </a:t>
            </a:r>
            <a:r>
              <a:rPr sz="1300" dirty="0" err="1">
                <a:solidFill>
                  <a:srgbClr val="334155"/>
                </a:solidFill>
              </a:rPr>
              <a:t>herbruikbaar</a:t>
            </a:r>
            <a:endParaRPr sz="1300" dirty="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118872"/>
            <a:ext cx="12188952" cy="68580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E3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5 Live Demo Scenario's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D5E9"/>
                </a:solidFill>
              </a:rPr>
              <a:t>De volledige demo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548640" cy="749808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68249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1554480"/>
            <a:ext cx="108813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61848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F35"/>
                </a:solidFill>
              </a:rPr>
              <a:t>Jira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56816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334155"/>
                </a:solidFill>
              </a:rPr>
              <a:t>Bot </a:t>
            </a:r>
            <a:r>
              <a:rPr sz="1300" b="0" i="0" dirty="0" err="1">
                <a:solidFill>
                  <a:srgbClr val="334155"/>
                </a:solidFill>
              </a:rPr>
              <a:t>toont</a:t>
            </a:r>
            <a:r>
              <a:rPr sz="1300" b="0" i="0" dirty="0">
                <a:solidFill>
                  <a:srgbClr val="334155"/>
                </a:solidFill>
              </a:rPr>
              <a:t> open tickets</a:t>
            </a:r>
            <a:r>
              <a:rPr lang="nl-BE" sz="1300" b="0" i="0" dirty="0">
                <a:solidFill>
                  <a:srgbClr val="334155"/>
                </a:solidFill>
              </a:rPr>
              <a:t> van mij en mijn collega’s</a:t>
            </a:r>
            <a:endParaRPr sz="1300" b="0" i="0" dirty="0">
              <a:solidFill>
                <a:srgbClr val="334155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0040" y="2487168"/>
            <a:ext cx="548640" cy="749808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261518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2487168"/>
            <a:ext cx="108813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3419856"/>
            <a:ext cx="548640" cy="749808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35478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3419856"/>
            <a:ext cx="108813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4352544"/>
            <a:ext cx="548640" cy="7498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4480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4352544"/>
            <a:ext cx="108813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41655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500" b="1" i="0" dirty="0">
                <a:solidFill>
                  <a:srgbClr val="0F1F35"/>
                </a:solidFill>
              </a:rPr>
              <a:t>Admin pagina’s</a:t>
            </a:r>
            <a:endParaRPr sz="1500" b="1" i="0" dirty="0">
              <a:solidFill>
                <a:srgbClr val="0F1F35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05840" y="4754880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300" b="0" i="0" dirty="0">
                <a:solidFill>
                  <a:srgbClr val="334155"/>
                </a:solidFill>
              </a:rPr>
              <a:t>Prompts beheren van de chatbot</a:t>
            </a:r>
            <a:endParaRPr sz="1300" b="0" i="0" dirty="0">
              <a:solidFill>
                <a:srgbClr val="334155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20040" y="5285232"/>
            <a:ext cx="548640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54132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" y="5285232"/>
            <a:ext cx="108813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34924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500" b="1" dirty="0">
                <a:solidFill>
                  <a:srgbClr val="0F1F35"/>
                </a:solidFill>
              </a:rPr>
              <a:t>Kennisbank beheer</a:t>
            </a:r>
            <a:endParaRPr sz="1500" b="1" i="0" dirty="0">
              <a:solidFill>
                <a:srgbClr val="0F1F35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5840" y="5687568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300" b="0" i="0" dirty="0">
                <a:solidFill>
                  <a:srgbClr val="334155"/>
                </a:solidFill>
              </a:rPr>
              <a:t>Kenninsbank beheer opzoeken en bij maken</a:t>
            </a:r>
            <a:endParaRPr sz="1300" b="0" i="0" dirty="0">
              <a:solidFill>
                <a:srgbClr val="334155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C67E54-FA51-5459-50E5-53CD8F9CCC7F}"/>
              </a:ext>
            </a:extLst>
          </p:cNvPr>
          <p:cNvSpPr txBox="1"/>
          <p:nvPr/>
        </p:nvSpPr>
        <p:spPr>
          <a:xfrm>
            <a:off x="1005840" y="25579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500" b="1" dirty="0">
                <a:solidFill>
                  <a:srgbClr val="0F1F35"/>
                </a:solidFill>
              </a:rPr>
              <a:t>Oplossingen zoeken</a:t>
            </a:r>
            <a:endParaRPr sz="1500" b="1" i="0" dirty="0">
              <a:solidFill>
                <a:srgbClr val="0F1F35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BFAC1E-BC8D-CB7F-D661-686A64B157F0}"/>
              </a:ext>
            </a:extLst>
          </p:cNvPr>
          <p:cNvSpPr txBox="1"/>
          <p:nvPr/>
        </p:nvSpPr>
        <p:spPr>
          <a:xfrm>
            <a:off x="1055493" y="2872715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334155"/>
                </a:solidFill>
              </a:rPr>
              <a:t>Claude </a:t>
            </a:r>
            <a:r>
              <a:rPr sz="1300" b="0" i="0" dirty="0" err="1">
                <a:solidFill>
                  <a:srgbClr val="334155"/>
                </a:solidFill>
              </a:rPr>
              <a:t>vergelijkt</a:t>
            </a:r>
            <a:r>
              <a:rPr sz="1300" b="0" i="0" dirty="0">
                <a:solidFill>
                  <a:srgbClr val="334155"/>
                </a:solidFill>
              </a:rPr>
              <a:t> met </a:t>
            </a:r>
            <a:r>
              <a:rPr sz="1300" b="0" i="0" dirty="0" err="1">
                <a:solidFill>
                  <a:srgbClr val="334155"/>
                </a:solidFill>
              </a:rPr>
              <a:t>historiek</a:t>
            </a:r>
            <a:r>
              <a:rPr sz="1300" b="0" i="0" dirty="0">
                <a:solidFill>
                  <a:srgbClr val="334155"/>
                </a:solidFill>
              </a:rPr>
              <a:t> → </a:t>
            </a:r>
            <a:r>
              <a:rPr lang="nl-BE" sz="1300" b="0" i="0" dirty="0">
                <a:solidFill>
                  <a:srgbClr val="334155"/>
                </a:solidFill>
              </a:rPr>
              <a:t>toont beschikbare oplossingen</a:t>
            </a:r>
            <a:endParaRPr sz="1300" b="0" i="0" dirty="0">
              <a:solidFill>
                <a:srgbClr val="334155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507CBD-D684-A64F-DE67-49DE41A66E71}"/>
              </a:ext>
            </a:extLst>
          </p:cNvPr>
          <p:cNvSpPr txBox="1"/>
          <p:nvPr/>
        </p:nvSpPr>
        <p:spPr>
          <a:xfrm>
            <a:off x="1005840" y="3442003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0F1F35"/>
                </a:solidFill>
              </a:rPr>
              <a:t>Ticke</a:t>
            </a:r>
            <a:r>
              <a:rPr lang="nl-BE" sz="1500" b="1" i="0" dirty="0">
                <a:solidFill>
                  <a:srgbClr val="0F1F35"/>
                </a:solidFill>
              </a:rPr>
              <a:t>t</a:t>
            </a:r>
            <a:endParaRPr sz="1500" b="1" i="0" dirty="0">
              <a:solidFill>
                <a:srgbClr val="0F1F35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D7A154-C0E7-2458-0042-1E9E768FC32D}"/>
              </a:ext>
            </a:extLst>
          </p:cNvPr>
          <p:cNvSpPr txBox="1"/>
          <p:nvPr/>
        </p:nvSpPr>
        <p:spPr>
          <a:xfrm>
            <a:off x="1005840" y="3752899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334155"/>
                </a:solidFill>
              </a:rPr>
              <a:t>Nieuw ticket</a:t>
            </a:r>
            <a:r>
              <a:rPr lang="nl-BE" sz="1300" b="0" i="0" dirty="0">
                <a:solidFill>
                  <a:srgbClr val="334155"/>
                </a:solidFill>
              </a:rPr>
              <a:t> aanmaken via bestaande flow</a:t>
            </a:r>
            <a:endParaRPr sz="1300" b="0" i="0" dirty="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E3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Smart Assign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D5E9"/>
                </a:solidFill>
              </a:rPr>
              <a:t>Claude analyseert elk nieuw ticket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50292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5029200" cy="384048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📥  Input factoren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4155"/>
                </a:solidFill>
              </a:rPr>
              <a:t>▸  Ticketinhoud, component &amp; fouttype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4155"/>
                </a:solidFill>
              </a:rPr>
              <a:t>▸  Historiek: wie loste dit eerder op?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4155"/>
                </a:solidFill>
              </a:rPr>
              <a:t>▸  Gemiddelde oplostijd per persoon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4155"/>
                </a:solidFill>
              </a:rPr>
              <a:t>▸  Huidige werkdruk &amp; beschikbaarheid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32918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4468C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08760"/>
            <a:ext cx="544068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508760"/>
            <a:ext cx="54406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📤  Output per ticket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4155"/>
                </a:solidFill>
              </a:rPr>
              <a:t>✓  Beste kandidaat met confidence %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4155"/>
                </a:solidFill>
              </a:rPr>
              <a:t>✓  Alternatief indien 1e keuze niet beschikbaar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4155"/>
                </a:solidFill>
              </a:rPr>
              <a:t>✓  Kant-en-klare oplossingsvoorstel als comment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4155"/>
                </a:solidFill>
              </a:rPr>
              <a:t>✓  Directe Teams-notificatie aan de toegewezene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4155"/>
                </a:solidFill>
              </a:rPr>
              <a:t>✓  Uitleg van de redenering (niet alleen het getal)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E3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Technische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D5E9"/>
                </a:solidFill>
              </a:rPr>
              <a:t>Bewezen enterprise technologieën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57607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54864" cy="141732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7099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F35"/>
                </a:solidFill>
              </a:rPr>
              <a:t>🤖  AI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</a:rPr>
              <a:t>Claude API — Anthropic
claude-sonnet-4-6 / claude-opus-4-7 + prompt caching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200400"/>
            <a:ext cx="57607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3200400"/>
            <a:ext cx="54864" cy="141732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3101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F35"/>
                </a:solidFill>
              </a:rPr>
              <a:t>📋  Tickets &amp; 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</a:rPr>
              <a:t>Atlassian MCP — Jira + Confluence (native read/write)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800600"/>
            <a:ext cx="57607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4800600"/>
            <a:ext cx="54864" cy="141732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9103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F35"/>
                </a:solidFill>
              </a:rPr>
              <a:t>💬  Chat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0352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</a:rPr>
              <a:t>Microsoft Teams Bot Framework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1600200"/>
            <a:ext cx="57607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59" y="1600200"/>
            <a:ext cx="54864" cy="141732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39" y="17099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F35"/>
                </a:solidFill>
              </a:rPr>
              <a:t>🔐  Authenticatie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39" y="210312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</a:rPr>
              <a:t>Azure AD — bestaande infrastructuur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3200400"/>
            <a:ext cx="57607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59" y="3200400"/>
            <a:ext cx="54864" cy="141732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39" y="33101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F35"/>
                </a:solidFill>
              </a:rPr>
              <a:t>💼  CRM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39" y="370332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</a:rPr>
              <a:t>Dynamics 365 connector (of mock data tijdens demo)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4800600"/>
            <a:ext cx="57607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59" y="4800600"/>
            <a:ext cx="54864" cy="141732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39" y="49103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F35"/>
                </a:solidFill>
              </a:rPr>
              <a:t>🌐  Frontend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39" y="530352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</a:rPr>
              <a:t>Flask web app — light/dark mode, Pollet brand kit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E3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5D5E9"/>
                </a:solidFill>
              </a:rPr>
              <a:t>Voor elke afdeling een direct voordeel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374903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3749039" cy="41148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66420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488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Snellere responstijden, minder handmatig zoeken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600200"/>
            <a:ext cx="374903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59" y="1600200"/>
            <a:ext cx="3749039" cy="41148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19" y="166420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21488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Volledige context + oplossingsvoorstel bij elk ticket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600200"/>
            <a:ext cx="374903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600200"/>
            <a:ext cx="3749039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166420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CRM /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488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360° klantoverzicht in seconden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931920"/>
            <a:ext cx="374903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3931920"/>
            <a:ext cx="3749039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399592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IT / Azure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480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Native Azure AD + MCP integratie, geen extra infra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3931920"/>
            <a:ext cx="374903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51959" y="3931920"/>
            <a:ext cx="3749039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19" y="399592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19" y="4480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Minder silo's, kortere doorlooptijden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931920"/>
            <a:ext cx="374903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3931920"/>
            <a:ext cx="3749039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60" y="399592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Iedereen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480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</a:rPr>
              <a:t>Kennis bewaard en herbruikbaar — geen kennisverliess meer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3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Klaar voor de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Unified AI Workspace Assistant — AI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→  5 live demo scenario's doorlopen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→  Smart Assign confidence % uitleg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→  Auto-Resolve in real-time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→  Kennisartikel gepubliceerd in Confluence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Pollet Group IT  ·  Sterima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483</Words>
  <Application>Microsoft Office PowerPoint</Application>
  <PresentationFormat>Custom</PresentationFormat>
  <Paragraphs>105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Dayvid Van Parijs</cp:lastModifiedBy>
  <cp:revision>2</cp:revision>
  <dcterms:created xsi:type="dcterms:W3CDTF">2013-01-27T09:14:16Z</dcterms:created>
  <dcterms:modified xsi:type="dcterms:W3CDTF">2026-04-23T07:29:00Z</dcterms:modified>
  <cp:category/>
</cp:coreProperties>
</file>